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6858000" cy="9144000"/>
  <p:embeddedFontLst>
    <p:embeddedFont>
      <p:font typeface="Encode Sans Black"/>
      <p:bold r:id="rId17"/>
    </p:embeddedFont>
    <p:embeddedFont>
      <p:font typeface="Encode Sans Medium"/>
      <p:regular r:id="rId18"/>
      <p:bold r:id="rId19"/>
    </p:embeddedFont>
    <p:embeddedFont>
      <p:font typeface="Open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regular.fntdata"/><Relationship Id="rId11" Type="http://schemas.openxmlformats.org/officeDocument/2006/relationships/slide" Target="slides/slide6.xml"/><Relationship Id="rId22" Type="http://schemas.openxmlformats.org/officeDocument/2006/relationships/font" Target="fonts/OpenSans-italic.fntdata"/><Relationship Id="rId10" Type="http://schemas.openxmlformats.org/officeDocument/2006/relationships/slide" Target="slides/slide5.xml"/><Relationship Id="rId21" Type="http://schemas.openxmlformats.org/officeDocument/2006/relationships/font" Target="fonts/Open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Open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EncodeSansBlack-bold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EncodeSansMedium-bold.fntdata"/><Relationship Id="rId6" Type="http://schemas.openxmlformats.org/officeDocument/2006/relationships/slide" Target="slides/slide1.xml"/><Relationship Id="rId18" Type="http://schemas.openxmlformats.org/officeDocument/2006/relationships/font" Target="fonts/EncodeSans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54098e009b_2_44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g354098e009b_2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54098e009b_1_25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354098e009b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a44d33f64a_0_3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3a44d33f64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a555334d89_2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3a555334d8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555334d89_2_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555334d89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44d33f64a_0_3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44d33f64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44d33f64a_0_4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44d33f64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44d33f64a_0_4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44d33f64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555334d89_1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555334d8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555334d89_1_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555334d89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44d33f64a_0_5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44d33f64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A Title Only">
  <p:cSld name="Title Only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8085" y="1011357"/>
            <a:ext cx="1904993" cy="129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072" y="5029200"/>
            <a:ext cx="1200151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title"/>
          </p:nvPr>
        </p:nvSpPr>
        <p:spPr>
          <a:xfrm>
            <a:off x="457200" y="3200400"/>
            <a:ext cx="7315200" cy="172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Encode Sans Black"/>
              <a:buNone/>
              <a:defRPr b="1" i="0" sz="5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B Title + Subtitle">
  <p:cSld name="2_Title Slide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6072" y="3017520"/>
            <a:ext cx="1188723" cy="9144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460375" y="32004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Encode Sans Medium"/>
              <a:buNone/>
              <a:defRPr sz="1600">
                <a:solidFill>
                  <a:schemeClr val="dk2"/>
                </a:solidFill>
                <a:latin typeface="Encode Sans Medium"/>
                <a:ea typeface="Encode Sans Medium"/>
                <a:cs typeface="Encode Sans Medium"/>
                <a:sym typeface="Encode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460375" y="1143000"/>
            <a:ext cx="8229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Encode Sans Black"/>
              <a:buNone/>
              <a:defRPr sz="5000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2" type="subTitle"/>
          </p:nvPr>
        </p:nvSpPr>
        <p:spPr>
          <a:xfrm>
            <a:off x="460375" y="4114800"/>
            <a:ext cx="685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A Content: Title and content">
  <p:cSld name="1_Custom Layou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" type="body"/>
          </p:nvPr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erriweather Sans"/>
              <a:buChar char="&gt;"/>
              <a:defRPr b="1" i="0" sz="2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1" i="0" sz="2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erriweather Sans"/>
              <a:buChar char="&gt;"/>
              <a:defRPr b="1" i="0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b="1" i="0" sz="16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erriweather Sans"/>
              <a:buChar char="&gt;"/>
              <a:defRPr b="1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454225" y="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B Content: Title and 2 content">
  <p:cSld name="1_Custom Layout_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idx="1" type="body"/>
          </p:nvPr>
        </p:nvSpPr>
        <p:spPr>
          <a:xfrm>
            <a:off x="457200" y="1143000"/>
            <a:ext cx="4115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erriweather Sans"/>
              <a:buChar char="&gt;"/>
              <a:defRPr b="1" i="0" sz="2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1" i="0" sz="2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erriweather Sans"/>
              <a:buChar char="&gt;"/>
              <a:defRPr b="1" i="0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b="1" i="0" sz="16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erriweather Sans"/>
              <a:buChar char="&gt;"/>
              <a:defRPr b="1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type="title"/>
          </p:nvPr>
        </p:nvSpPr>
        <p:spPr>
          <a:xfrm>
            <a:off x="460375" y="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2" name="Google Shape;22;p5"/>
          <p:cNvSpPr txBox="1"/>
          <p:nvPr>
            <p:ph idx="2" type="body"/>
          </p:nvPr>
        </p:nvSpPr>
        <p:spPr>
          <a:xfrm>
            <a:off x="4572000" y="1143000"/>
            <a:ext cx="4115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erriweather Sans"/>
              <a:buChar char="&gt;"/>
              <a:defRPr b="1" i="0" sz="2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1" i="0" sz="2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erriweather Sans"/>
              <a:buChar char="&gt;"/>
              <a:defRPr b="1" i="0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b="1" i="0" sz="16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erriweather Sans"/>
              <a:buChar char="&gt;"/>
              <a:defRPr b="1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C Content: Title and 2 content Horizontal">
  <p:cSld name="1_Custom Layout_1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idx="1" type="body"/>
          </p:nvPr>
        </p:nvSpPr>
        <p:spPr>
          <a:xfrm>
            <a:off x="457200" y="1143000"/>
            <a:ext cx="8230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erriweather Sans"/>
              <a:buChar char="&gt;"/>
              <a:defRPr b="1" i="0" sz="2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1" i="0" sz="2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erriweather Sans"/>
              <a:buChar char="&gt;"/>
              <a:defRPr b="1" i="0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b="1" i="0" sz="16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erriweather Sans"/>
              <a:buChar char="&gt;"/>
              <a:defRPr b="1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6"/>
          <p:cNvSpPr txBox="1"/>
          <p:nvPr>
            <p:ph type="title"/>
          </p:nvPr>
        </p:nvSpPr>
        <p:spPr>
          <a:xfrm>
            <a:off x="460375" y="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457200" y="3657600"/>
            <a:ext cx="8230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erriweather Sans"/>
              <a:buChar char="&gt;"/>
              <a:defRPr b="1" i="0" sz="2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1" i="0" sz="2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erriweather Sans"/>
              <a:buChar char="&gt;"/>
              <a:defRPr b="1" i="0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b="1" i="0" sz="16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erriweather Sans"/>
              <a:buChar char="&gt;"/>
              <a:defRPr b="1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End">
  <p:cSld name="3_Custom Layou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D3A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30129" l="8136" r="13252" t="38360"/>
          <a:stretch/>
        </p:blipFill>
        <p:spPr>
          <a:xfrm>
            <a:off x="0" y="0"/>
            <a:ext cx="9144001" cy="32606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shamangary/ASV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hpatches/hpatches-dataset" TargetMode="External"/><Relationship Id="rId4" Type="http://schemas.openxmlformats.org/officeDocument/2006/relationships/hyperlink" Target="https://www.robots.ox.ac.uk/~vgg/research/affine" TargetMode="External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/>
          <p:nvPr/>
        </p:nvSpPr>
        <p:spPr>
          <a:xfrm>
            <a:off x="235575" y="5064967"/>
            <a:ext cx="2856300" cy="1439700"/>
          </a:xfrm>
          <a:prstGeom prst="rect">
            <a:avLst/>
          </a:prstGeom>
          <a:solidFill>
            <a:srgbClr val="E8D3A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8"/>
          <p:cNvSpPr txBox="1"/>
          <p:nvPr>
            <p:ph idx="1" type="subTitle"/>
          </p:nvPr>
        </p:nvSpPr>
        <p:spPr>
          <a:xfrm>
            <a:off x="460375" y="3200400"/>
            <a:ext cx="82296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Fred Xu, Matthew Kim, Minh Quan</a:t>
            </a:r>
            <a:endParaRPr/>
          </a:p>
        </p:txBody>
      </p:sp>
      <p:sp>
        <p:nvSpPr>
          <p:cNvPr id="35" name="Google Shape;35;p8"/>
          <p:cNvSpPr txBox="1"/>
          <p:nvPr>
            <p:ph type="title"/>
          </p:nvPr>
        </p:nvSpPr>
        <p:spPr>
          <a:xfrm>
            <a:off x="460375" y="1143000"/>
            <a:ext cx="8229600" cy="182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of Accumulated Stability Voting (ASV)</a:t>
            </a:r>
            <a:endParaRPr/>
          </a:p>
        </p:txBody>
      </p:sp>
      <p:sp>
        <p:nvSpPr>
          <p:cNvPr id="36" name="Google Shape;36;p8"/>
          <p:cNvSpPr txBox="1"/>
          <p:nvPr>
            <p:ph idx="2" type="subTitle"/>
          </p:nvPr>
        </p:nvSpPr>
        <p:spPr>
          <a:xfrm>
            <a:off x="460375" y="4114800"/>
            <a:ext cx="6858000" cy="18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Yang, T.-Y., Lin, Y.-Y. &amp; Chuang, Y.-Y., “Accumulated Stability Voting: A Robust Descriptor from Descriptors of Multiple Scales,” in Proc. IEEE Conf. on Computer Vision and Pattern Recognition (CVPR), Las Vegas, NV, USA, Jun.–Jul. 2016, pp. 327-335. doi:10.1109/CVPR.2016.42.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454225" y="457200"/>
            <a:ext cx="8229600" cy="91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/>
              <a:t>Agenda</a:t>
            </a:r>
            <a:endParaRPr b="1" sz="3020"/>
          </a:p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457200" y="1143000"/>
            <a:ext cx="82296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Problem Definition</a:t>
            </a:r>
            <a:endParaRPr/>
          </a:p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Class Implementation</a:t>
            </a:r>
            <a:endParaRPr/>
          </a:p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Data Structure</a:t>
            </a:r>
            <a:endParaRPr/>
          </a:p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Test Data &amp; Methodology</a:t>
            </a:r>
            <a:endParaRPr/>
          </a:p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Initial Results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57200" y="1143000"/>
            <a:ext cx="82296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200"/>
              <a:t>Problem: 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b="0" lang="en" sz="2200"/>
              <a:t>Traditional descriptors typically use a single scale per keypoint. </a:t>
            </a:r>
            <a:endParaRPr b="0" sz="22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0" lang="en"/>
              <a:t>Incorrect scale leads to poor robustness.</a:t>
            </a:r>
            <a:endParaRPr b="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0" lang="en" sz="2200"/>
              <a:t>ASV-SIFT was implemented using VLFeat &amp; MATLAB library by the authors. </a:t>
            </a:r>
            <a:endParaRPr b="0" sz="2200"/>
          </a:p>
          <a:p>
            <a:pPr indent="0" lvl="0" marL="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/>
              <a:t>Project Goals: 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b="0" lang="en" sz="2200"/>
              <a:t>Implement the ASV framework in C++/OpenCV.</a:t>
            </a:r>
            <a:endParaRPr b="0"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0" lang="en" sz="2200"/>
              <a:t>Integrate ASV with OpenCV SIFT &amp; BRISK.</a:t>
            </a:r>
            <a:endParaRPr b="0"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0" lang="en" sz="2200"/>
              <a:t>Evaluate ASV on Oxford dataset.</a:t>
            </a:r>
            <a:endParaRPr b="0"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0" lang="en" sz="2200"/>
              <a:t>Explore alternative thresholding strategies.</a:t>
            </a:r>
            <a:endParaRPr b="0" sz="2200"/>
          </a:p>
        </p:txBody>
      </p:sp>
      <p:sp>
        <p:nvSpPr>
          <p:cNvPr id="48" name="Google Shape;48;p10"/>
          <p:cNvSpPr txBox="1"/>
          <p:nvPr>
            <p:ph type="title"/>
          </p:nvPr>
        </p:nvSpPr>
        <p:spPr>
          <a:xfrm>
            <a:off x="454225" y="457200"/>
            <a:ext cx="8229600" cy="91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Definition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457200" y="1143000"/>
            <a:ext cx="82296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/>
              <a:t>OpenCV: 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b="0" lang="en" sz="2200"/>
              <a:t>Keypoint detectors &amp; descriptors</a:t>
            </a:r>
            <a:endParaRPr b="0"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b="0" lang="en" sz="2200"/>
              <a:t>cv::SIFT &amp; cv::BRISK</a:t>
            </a:r>
            <a:endParaRPr b="0"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0" lang="en" sz="2200"/>
              <a:t>Matching &amp; visualization</a:t>
            </a:r>
            <a:endParaRPr b="0"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b="0" lang="en" sz="2200"/>
              <a:t>cv::BFMatcher &amp; cv::drawMatches</a:t>
            </a:r>
            <a:endParaRPr b="0" sz="2200"/>
          </a:p>
          <a:p>
            <a:pPr indent="0" lvl="0" marL="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/>
              <a:t>External: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b="0" lang="en" sz="22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Original ASV implementation</a:t>
            </a:r>
            <a:r>
              <a:rPr b="0" lang="en" sz="2200"/>
              <a:t> in VLFeat &amp; MATLAB</a:t>
            </a:r>
            <a:endParaRPr b="0"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0" lang="en" sz="2200"/>
              <a:t>Public datasets</a:t>
            </a:r>
            <a:endParaRPr b="0"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b="0" lang="en" sz="2200"/>
              <a:t>Oxford Affine Covariant Regions dataset</a:t>
            </a:r>
            <a:endParaRPr b="0" sz="2200"/>
          </a:p>
        </p:txBody>
      </p:sp>
      <p:sp>
        <p:nvSpPr>
          <p:cNvPr id="54" name="Google Shape;54;p11"/>
          <p:cNvSpPr txBox="1"/>
          <p:nvPr>
            <p:ph type="title"/>
          </p:nvPr>
        </p:nvSpPr>
        <p:spPr>
          <a:xfrm>
            <a:off x="454225" y="457200"/>
            <a:ext cx="8229600" cy="91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Already Exists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" type="body"/>
          </p:nvPr>
        </p:nvSpPr>
        <p:spPr>
          <a:xfrm>
            <a:off x="457200" y="1143000"/>
            <a:ext cx="82296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Keypoint detection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b="0" lang="en"/>
              <a:t>Detect keypoints with SIFT.</a:t>
            </a:r>
            <a:endParaRPr b="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Multiscale descriptor extraction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b="0" lang="en"/>
              <a:t>For each keypoint, </a:t>
            </a:r>
            <a:r>
              <a:rPr b="0" lang="en"/>
              <a:t>sample patches at scale λ</a:t>
            </a:r>
            <a:r>
              <a:rPr b="0" baseline="-25000" lang="en"/>
              <a:t>s</a:t>
            </a:r>
            <a:r>
              <a:rPr b="0" lang="en"/>
              <a:t>σ,…,λ</a:t>
            </a:r>
            <a:r>
              <a:rPr b="0" baseline="-25000" lang="en"/>
              <a:t>l</a:t>
            </a:r>
            <a:r>
              <a:rPr b="0" lang="en"/>
              <a:t>σ.</a:t>
            </a:r>
            <a:endParaRPr b="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b="0" lang="en"/>
              <a:t>Extract SIFT descriptor at each samples scale.</a:t>
            </a:r>
            <a:endParaRPr b="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Stability computation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b="0" lang="en"/>
              <a:t>For each pair of scales (i, j): v</a:t>
            </a:r>
            <a:r>
              <a:rPr b="0" baseline="-25000" lang="en"/>
              <a:t>i, j</a:t>
            </a:r>
            <a:r>
              <a:rPr b="0" lang="en"/>
              <a:t> = |x</a:t>
            </a:r>
            <a:r>
              <a:rPr b="0" baseline="-25000" lang="en"/>
              <a:t>i</a:t>
            </a:r>
            <a:r>
              <a:rPr b="0" lang="en"/>
              <a:t> - x</a:t>
            </a:r>
            <a:r>
              <a:rPr b="0" baseline="-25000" lang="en"/>
              <a:t>j</a:t>
            </a:r>
            <a:r>
              <a:rPr b="0" lang="en"/>
              <a:t>| (element wise absolute difference).</a:t>
            </a:r>
            <a:endParaRPr b="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Entropy-based thresholding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b="0" lang="en"/>
              <a:t>For each v</a:t>
            </a:r>
            <a:r>
              <a:rPr b="0" baseline="-25000" lang="en"/>
              <a:t>i, j</a:t>
            </a:r>
            <a:r>
              <a:rPr b="0" lang="en"/>
              <a:t>, choose threshold as median of its 128 elements.</a:t>
            </a:r>
            <a:endParaRPr b="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Accumulated stability voting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b="0" lang="en"/>
              <a:t>Sum votes across all pairs -&gt;real-valued ASV descriptor C.</a:t>
            </a:r>
            <a:endParaRPr b="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Optional second-stage thresholding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b="0" lang="en"/>
              <a:t>Quantize C into a binary descriptor.</a:t>
            </a:r>
            <a:endParaRPr b="0"/>
          </a:p>
        </p:txBody>
      </p:sp>
      <p:sp>
        <p:nvSpPr>
          <p:cNvPr id="60" name="Google Shape;60;p12"/>
          <p:cNvSpPr txBox="1"/>
          <p:nvPr>
            <p:ph type="title"/>
          </p:nvPr>
        </p:nvSpPr>
        <p:spPr>
          <a:xfrm>
            <a:off x="454225" y="457200"/>
            <a:ext cx="8229600" cy="91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ASV Pipeline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 txBox="1"/>
          <p:nvPr>
            <p:ph idx="1" type="body"/>
          </p:nvPr>
        </p:nvSpPr>
        <p:spPr>
          <a:xfrm>
            <a:off x="457200" y="1143000"/>
            <a:ext cx="82296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1600"/>
              <a:t>Class ASV {</a:t>
            </a:r>
            <a:endParaRPr sz="16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lang="en" sz="1600"/>
              <a:t>public:</a:t>
            </a:r>
            <a:endParaRPr b="0" sz="1600"/>
          </a:p>
          <a:p>
            <a:pPr indent="45720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lang="en" sz="1600"/>
              <a:t>ASV(int nScales, int scaleStep, int nThreshold1, int nThreshold2, bool </a:t>
            </a:r>
            <a:endParaRPr b="0" sz="1600"/>
          </a:p>
          <a:p>
            <a:pPr indent="45720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lang="en" sz="1600"/>
              <a:t>isInterpolated)</a:t>
            </a:r>
            <a:endParaRPr b="0" sz="1600"/>
          </a:p>
          <a:p>
            <a:pPr indent="45720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lang="en" sz="1600"/>
              <a:t>compute(Mat image, vector&lt;Keypoint&gt;keypoints, vector realOutput, vector </a:t>
            </a:r>
            <a:endParaRPr b="0" sz="1600"/>
          </a:p>
          <a:p>
            <a:pPr indent="45720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lang="en" sz="1600"/>
              <a:t>binaryOutput)</a:t>
            </a:r>
            <a:endParaRPr b="0" sz="16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lang="en" sz="1600"/>
              <a:t>p</a:t>
            </a:r>
            <a:r>
              <a:rPr b="0" lang="en" sz="1600"/>
              <a:t>rivate:</a:t>
            </a:r>
            <a:endParaRPr b="0" sz="16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lang="en" sz="1600"/>
              <a:t>	</a:t>
            </a:r>
            <a:r>
              <a:rPr b="0" lang="en" sz="1600">
                <a:solidFill>
                  <a:schemeClr val="dk1"/>
                </a:solidFill>
              </a:rPr>
              <a:t>nScales: int</a:t>
            </a:r>
            <a:endParaRPr b="0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chemeClr val="dk1"/>
                </a:solidFill>
              </a:rPr>
              <a:t>	scaleStep: int</a:t>
            </a:r>
            <a:endParaRPr b="0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chemeClr val="dk1"/>
                </a:solidFill>
              </a:rPr>
              <a:t>	nThreshold1: int</a:t>
            </a:r>
            <a:endParaRPr b="0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chemeClr val="dk1"/>
                </a:solidFill>
              </a:rPr>
              <a:t>	nThreshold2: int</a:t>
            </a:r>
            <a:endParaRPr b="0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chemeClr val="dk1"/>
                </a:solidFill>
              </a:rPr>
              <a:t>	isInterpolated: bool</a:t>
            </a:r>
            <a:endParaRPr b="0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chemeClr val="dk1"/>
                </a:solidFill>
              </a:rPr>
              <a:t>	</a:t>
            </a:r>
            <a:endParaRPr b="0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chemeClr val="dk1"/>
                </a:solidFill>
              </a:rPr>
              <a:t>	calculateThresholds(int nThreshold, vector input, vector output)</a:t>
            </a:r>
            <a:endParaRPr b="0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chemeClr val="dk1"/>
                </a:solidFill>
              </a:rPr>
              <a:t>	computeVote(vector input, vector thresholds, vector output)</a:t>
            </a:r>
            <a:endParaRPr b="0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}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="0" sz="16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lang="en" sz="1600"/>
              <a:t>	</a:t>
            </a:r>
            <a:endParaRPr b="0" sz="16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lang="en" sz="1600"/>
              <a:t>	</a:t>
            </a:r>
            <a:endParaRPr b="0" sz="1600"/>
          </a:p>
        </p:txBody>
      </p:sp>
      <p:sp>
        <p:nvSpPr>
          <p:cNvPr id="66" name="Google Shape;66;p13"/>
          <p:cNvSpPr txBox="1"/>
          <p:nvPr>
            <p:ph type="title"/>
          </p:nvPr>
        </p:nvSpPr>
        <p:spPr>
          <a:xfrm>
            <a:off x="454225" y="457200"/>
            <a:ext cx="8229600" cy="68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Definition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457200" y="1143000"/>
            <a:ext cx="82296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200"/>
              <a:t>State Vectors</a:t>
            </a:r>
            <a:endParaRPr sz="2200"/>
          </a:p>
          <a:p>
            <a:pPr indent="-355600" lvl="0" marL="457200" rtl="0" algn="l"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b="0" lang="en" sz="2000"/>
              <a:t>SIFT descriptor: </a:t>
            </a:r>
            <a:r>
              <a:rPr b="0" lang="en" sz="2000"/>
              <a:t>x</a:t>
            </a:r>
            <a:r>
              <a:rPr b="0" lang="en" sz="2000"/>
              <a:t> = float[</a:t>
            </a:r>
            <a:r>
              <a:rPr b="0" lang="en" sz="2000">
                <a:solidFill>
                  <a:schemeClr val="dk1"/>
                </a:solidFill>
              </a:rPr>
              <a:t>nBins</a:t>
            </a:r>
            <a:r>
              <a:rPr b="0" lang="en" sz="2000"/>
              <a:t>]</a:t>
            </a:r>
            <a:endParaRPr b="0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0" lang="en" sz="2000"/>
              <a:t>Stability vector: v</a:t>
            </a:r>
            <a:r>
              <a:rPr b="0" baseline="30000" lang="en" sz="2000"/>
              <a:t>m</a:t>
            </a:r>
            <a:r>
              <a:rPr b="0" lang="en" sz="2000"/>
              <a:t> = float[</a:t>
            </a:r>
            <a:r>
              <a:rPr b="0" lang="en" sz="2000">
                <a:solidFill>
                  <a:schemeClr val="dk1"/>
                </a:solidFill>
              </a:rPr>
              <a:t>nBins</a:t>
            </a:r>
            <a:r>
              <a:rPr b="0" lang="en" sz="2000"/>
              <a:t>]</a:t>
            </a:r>
            <a:endParaRPr b="0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0" lang="en" sz="2000"/>
              <a:t>multiScaleDescriptor: z</a:t>
            </a:r>
            <a:r>
              <a:rPr b="0" baseline="-25000" lang="en" sz="2000"/>
              <a:t>n</a:t>
            </a:r>
            <a:r>
              <a:rPr b="0" lang="en" sz="2000"/>
              <a:t> = </a:t>
            </a:r>
            <a:r>
              <a:rPr b="0" lang="en" sz="2000">
                <a:solidFill>
                  <a:schemeClr val="dk1"/>
                </a:solidFill>
              </a:rPr>
              <a:t>[nKeypoints]</a:t>
            </a:r>
            <a:r>
              <a:rPr b="0" lang="en" sz="2000"/>
              <a:t>[nScales][x]</a:t>
            </a:r>
            <a:endParaRPr b="0" sz="20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200"/>
              <a:t>Thresholds</a:t>
            </a:r>
            <a:endParaRPr sz="2200"/>
          </a:p>
          <a:p>
            <a:pPr indent="-355600" lvl="0" marL="457200" rtl="0" algn="l"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b="0" lang="en" sz="2000"/>
              <a:t>firstThresholds = float[nThresholds]</a:t>
            </a:r>
            <a:endParaRPr b="0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0" lang="en" sz="2000"/>
              <a:t>secondThresholds = float[nThresholds]</a:t>
            </a:r>
            <a:endParaRPr b="0" sz="20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200"/>
              <a:t>Descriptors</a:t>
            </a:r>
            <a:endParaRPr sz="2200"/>
          </a:p>
          <a:p>
            <a:pPr indent="-355600" lvl="0" marL="457200" rtl="0" algn="l"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b="0" lang="en" sz="2000"/>
              <a:t>realASV = [nKeypoints][nBins]</a:t>
            </a:r>
            <a:endParaRPr b="0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0" lang="en" sz="2000"/>
              <a:t>binaryASV = [nKeypoints][nBins]</a:t>
            </a:r>
            <a:endParaRPr b="0" sz="2000"/>
          </a:p>
        </p:txBody>
      </p:sp>
      <p:sp>
        <p:nvSpPr>
          <p:cNvPr id="72" name="Google Shape;72;p14"/>
          <p:cNvSpPr txBox="1"/>
          <p:nvPr>
            <p:ph type="title"/>
          </p:nvPr>
        </p:nvSpPr>
        <p:spPr>
          <a:xfrm>
            <a:off x="454225" y="457200"/>
            <a:ext cx="8229600" cy="91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Structure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457200" y="1143000"/>
            <a:ext cx="85512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/>
              <a:t>Test data </a:t>
            </a:r>
            <a:endParaRPr b="0"/>
          </a:p>
          <a:p>
            <a:pPr indent="-323850" lvl="0" marL="45720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Both datasets provide ground-truth homographies 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HPatches </a:t>
            </a:r>
            <a:r>
              <a:rPr b="0" lang="en" sz="1500"/>
              <a:t>(</a:t>
            </a:r>
            <a:r>
              <a:rPr b="0" lang="en" sz="1500" u="sng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https://github.com/hpatches/hpatches-dataset</a:t>
            </a:r>
            <a:r>
              <a:rPr b="0" lang="en" sz="1500"/>
              <a:t> )</a:t>
            </a:r>
            <a:endParaRPr b="0" sz="1500"/>
          </a:p>
          <a:p>
            <a:pPr indent="0" lvl="0" marL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Oxford Affine Covariant Regions </a:t>
            </a:r>
            <a:r>
              <a:rPr b="0" lang="en" sz="1500"/>
              <a:t>(</a:t>
            </a:r>
            <a:r>
              <a:rPr b="0" lang="en" sz="1500" u="sng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https://www.robots.ox.ac.uk/~vgg/research/affine</a:t>
            </a:r>
            <a:r>
              <a:rPr b="0" lang="en" sz="1500"/>
              <a:t>)</a:t>
            </a:r>
            <a:endParaRPr b="0" sz="1500"/>
          </a:p>
        </p:txBody>
      </p:sp>
      <p:sp>
        <p:nvSpPr>
          <p:cNvPr id="78" name="Google Shape;78;p15"/>
          <p:cNvSpPr txBox="1"/>
          <p:nvPr>
            <p:ph type="title"/>
          </p:nvPr>
        </p:nvSpPr>
        <p:spPr>
          <a:xfrm>
            <a:off x="454225" y="457200"/>
            <a:ext cx="8229600" cy="91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Data &amp; Methodology</a:t>
            </a:r>
            <a:endParaRPr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5125" y="2312473"/>
            <a:ext cx="7193751" cy="11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6474" y="4507598"/>
            <a:ext cx="2272500" cy="1821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21311" y="4507600"/>
            <a:ext cx="2283965" cy="182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17600" y="4507050"/>
            <a:ext cx="2283976" cy="1822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457200" y="1143000"/>
            <a:ext cx="82296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/>
              <a:t>Evaluation pipeline</a:t>
            </a:r>
            <a:endParaRPr b="0"/>
          </a:p>
          <a:p>
            <a:pPr indent="-330200" lvl="0" marL="4572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1600"/>
              <a:buAutoNum type="arabicPeriod"/>
            </a:pPr>
            <a:r>
              <a:rPr b="0" lang="en" sz="1600"/>
              <a:t>Load </a:t>
            </a:r>
            <a:r>
              <a:rPr lang="en" sz="1600"/>
              <a:t>image pair + ground-truth</a:t>
            </a:r>
            <a:r>
              <a:rPr b="0" lang="en" sz="1600"/>
              <a:t> homography (Oxford / HPatches).</a:t>
            </a:r>
            <a:endParaRPr b="0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Detect keypoints</a:t>
            </a:r>
            <a:r>
              <a:rPr b="0" lang="en" sz="1600"/>
              <a:t> with OpenCV SIFT.</a:t>
            </a:r>
            <a:endParaRPr b="0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0" lang="en" sz="1600"/>
              <a:t>Compute descriptors:</a:t>
            </a:r>
            <a:endParaRPr b="0"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b="0" lang="en" sz="1600"/>
              <a:t>SIFT (baseline)</a:t>
            </a:r>
            <a:endParaRPr b="0"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ASV-SIFT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0" lang="en" sz="1600"/>
              <a:t>Match descriptors via </a:t>
            </a:r>
            <a:r>
              <a:rPr lang="en" sz="1600"/>
              <a:t>BFMatcher</a:t>
            </a:r>
            <a:r>
              <a:rPr b="0" lang="en" sz="1600"/>
              <a:t> (nearest-neighbor </a:t>
            </a:r>
            <a:r>
              <a:rPr b="0" lang="en" sz="1600"/>
              <a:t>distance)</a:t>
            </a:r>
            <a:endParaRPr b="0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0" lang="en" sz="1600"/>
              <a:t>Check correctness (</a:t>
            </a:r>
            <a:r>
              <a:rPr lang="en" sz="1600"/>
              <a:t>reprojection error</a:t>
            </a:r>
            <a:r>
              <a:rPr b="0" lang="en" sz="1600"/>
              <a:t>)</a:t>
            </a:r>
            <a:endParaRPr b="0"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b="0" lang="en" sz="1600"/>
              <a:t>Reproject keypoint from image A → image B using the homography</a:t>
            </a:r>
            <a:endParaRPr b="0"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b="0" lang="en" sz="1600"/>
              <a:t>Compute the reprojection error</a:t>
            </a:r>
            <a:endParaRPr b="0"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b="0" lang="en" sz="1600"/>
              <a:t>Mark match as correct if error &lt; ε pixels (flat threshold e.g. </a:t>
            </a:r>
            <a:r>
              <a:rPr b="0" lang="en" sz="1600">
                <a:solidFill>
                  <a:schemeClr val="dk1"/>
                </a:solidFill>
              </a:rPr>
              <a:t>ε = 3)</a:t>
            </a:r>
            <a:endParaRPr b="0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0" lang="en" sz="1600"/>
              <a:t>Compute </a:t>
            </a:r>
            <a:r>
              <a:rPr lang="en" sz="1600"/>
              <a:t>PR</a:t>
            </a:r>
            <a:r>
              <a:rPr b="0" lang="en" sz="1600"/>
              <a:t> curve</a:t>
            </a:r>
            <a:endParaRPr b="0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0" lang="en" sz="1600"/>
              <a:t>Compute </a:t>
            </a:r>
            <a:r>
              <a:rPr lang="en" sz="1600"/>
              <a:t>AP</a:t>
            </a:r>
            <a:r>
              <a:rPr b="0" lang="en" sz="1600"/>
              <a:t> per image</a:t>
            </a:r>
            <a:endParaRPr b="0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0" lang="en" sz="1600"/>
              <a:t>Aggregate and compute </a:t>
            </a:r>
            <a:r>
              <a:rPr lang="en" sz="1600"/>
              <a:t>mAP</a:t>
            </a:r>
            <a:r>
              <a:rPr b="0" lang="en" sz="1600"/>
              <a:t> across all image pairs</a:t>
            </a:r>
            <a:endParaRPr b="0" sz="1600"/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454225" y="457200"/>
            <a:ext cx="8229600" cy="91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Data &amp; Methodology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457200" y="1143000"/>
            <a:ext cx="82296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Metrics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Accuracy</a:t>
            </a:r>
            <a:r>
              <a:rPr b="0" lang="en" sz="1800">
                <a:solidFill>
                  <a:schemeClr val="dk1"/>
                </a:solidFill>
              </a:rPr>
              <a:t>: </a:t>
            </a:r>
            <a:endParaRPr b="0"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0" lang="en" sz="1800">
                <a:solidFill>
                  <a:schemeClr val="dk1"/>
                </a:solidFill>
              </a:rPr>
              <a:t>mAP</a:t>
            </a:r>
            <a:endParaRPr b="0"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0" lang="en" sz="1800">
                <a:solidFill>
                  <a:schemeClr val="dk1"/>
                </a:solidFill>
              </a:rPr>
              <a:t>Precision–Recall curves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Efficiency</a:t>
            </a:r>
            <a:r>
              <a:rPr b="0" lang="en" sz="1800">
                <a:solidFill>
                  <a:schemeClr val="dk1"/>
                </a:solidFill>
              </a:rPr>
              <a:t>: </a:t>
            </a:r>
            <a:endParaRPr b="0"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0" lang="en" sz="1800">
                <a:solidFill>
                  <a:schemeClr val="dk1"/>
                </a:solidFill>
              </a:rPr>
              <a:t>Descriptor extraction time </a:t>
            </a:r>
            <a:endParaRPr b="0"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0" lang="en" sz="1800">
                <a:solidFill>
                  <a:schemeClr val="dk1"/>
                </a:solidFill>
              </a:rPr>
              <a:t>Matching time per image pair</a:t>
            </a:r>
            <a:endParaRPr b="0"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0" lang="en" sz="1800">
                <a:solidFill>
                  <a:schemeClr val="dk1"/>
                </a:solidFill>
              </a:rPr>
              <a:t>Descriptor size (bytes)</a:t>
            </a:r>
            <a:endParaRPr/>
          </a:p>
        </p:txBody>
      </p:sp>
      <p:sp>
        <p:nvSpPr>
          <p:cNvPr id="94" name="Google Shape;94;p17"/>
          <p:cNvSpPr txBox="1"/>
          <p:nvPr>
            <p:ph type="title"/>
          </p:nvPr>
        </p:nvSpPr>
        <p:spPr>
          <a:xfrm>
            <a:off x="454225" y="457200"/>
            <a:ext cx="8229600" cy="91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Data &amp; Methodology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457200" y="1143000"/>
            <a:ext cx="82296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/>
              <a:t>Completed Work</a:t>
            </a:r>
            <a:endParaRPr/>
          </a:p>
          <a:p>
            <a:pPr indent="-355600" lvl="0" marL="457200" rtl="0" algn="l"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b="0" lang="en" sz="2000"/>
              <a:t>Obtained image dataset</a:t>
            </a:r>
            <a:endParaRPr b="0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0" lang="en" sz="2000"/>
              <a:t>Added header and class implementation file</a:t>
            </a:r>
            <a:endParaRPr b="0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0" lang="en" sz="2000"/>
              <a:t>Started on multiscale </a:t>
            </a:r>
            <a:r>
              <a:rPr b="0" lang="en" sz="2000"/>
              <a:t>stability</a:t>
            </a:r>
            <a:r>
              <a:rPr b="0" lang="en" sz="2000"/>
              <a:t> vector calculations</a:t>
            </a:r>
            <a:endParaRPr b="0" sz="20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/>
              <a:t>Remaining Work</a:t>
            </a:r>
            <a:endParaRPr b="0" sz="2000"/>
          </a:p>
          <a:p>
            <a:pPr indent="-355600" lvl="0" marL="457200" rtl="0" algn="l"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b="0" lang="en" sz="2000"/>
              <a:t>OpenCV implementation for SIFT based ASV</a:t>
            </a:r>
            <a:endParaRPr b="0"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 Sans"/>
              <a:buChar char="○"/>
            </a:pPr>
            <a:r>
              <a:rPr b="0" lang="en">
                <a:solidFill>
                  <a:schemeClr val="dk1"/>
                </a:solidFill>
              </a:rPr>
              <a:t>1st stage thresholding</a:t>
            </a:r>
            <a:endParaRPr b="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 Sans"/>
              <a:buChar char="○"/>
            </a:pPr>
            <a:r>
              <a:rPr b="0" lang="en">
                <a:solidFill>
                  <a:schemeClr val="dk1"/>
                </a:solidFill>
              </a:rPr>
              <a:t>Vote accumulation</a:t>
            </a:r>
            <a:endParaRPr b="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b="0" lang="en">
                <a:solidFill>
                  <a:schemeClr val="dk1"/>
                </a:solidFill>
              </a:rPr>
              <a:t>2nd stage thresholding</a:t>
            </a:r>
            <a:endParaRPr b="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0" lang="en" sz="2000"/>
              <a:t>Add BRISK based ASV</a:t>
            </a:r>
            <a:endParaRPr b="0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0" lang="en" sz="2000"/>
              <a:t>Run tests and gather data</a:t>
            </a:r>
            <a:endParaRPr b="0"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0" lang="en"/>
              <a:t>Calculate mAP</a:t>
            </a:r>
            <a:endParaRPr b="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0" lang="en"/>
              <a:t>Collect runtime performance</a:t>
            </a:r>
            <a:endParaRPr b="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0" lang="en"/>
              <a:t>Generate match images</a:t>
            </a:r>
            <a:endParaRPr b="0" sz="2000"/>
          </a:p>
        </p:txBody>
      </p:sp>
      <p:sp>
        <p:nvSpPr>
          <p:cNvPr id="100" name="Google Shape;100;p18"/>
          <p:cNvSpPr txBox="1"/>
          <p:nvPr>
            <p:ph type="title"/>
          </p:nvPr>
        </p:nvSpPr>
        <p:spPr>
          <a:xfrm>
            <a:off x="454225" y="457200"/>
            <a:ext cx="8229600" cy="91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Results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in">
  <a:themeElements>
    <a:clrScheme name="4b2e83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