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9144000"/>
  <p:notesSz cx="6858000" cy="9144000"/>
  <p:embeddedFontLst>
    <p:embeddedFont>
      <p:font typeface="Encode Sans Black"/>
      <p:bold r:id="rId18"/>
    </p:embeddedFont>
    <p:embeddedFont>
      <p:font typeface="Open Sans Light"/>
      <p:regular r:id="rId19"/>
      <p:bold r:id="rId20"/>
      <p:italic r:id="rId21"/>
      <p:boldItalic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CEF2C2-52CE-448F-9A6E-94520D097432}">
  <a:tblStyle styleId="{90CEF2C2-52CE-448F-9A6E-94520D0974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9AF7432-D68F-4309-A257-49176E7763B0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Light-bold.fntdata"/><Relationship Id="rId22" Type="http://schemas.openxmlformats.org/officeDocument/2006/relationships/font" Target="fonts/OpenSansLight-boldItalic.fntdata"/><Relationship Id="rId21" Type="http://schemas.openxmlformats.org/officeDocument/2006/relationships/font" Target="fonts/OpenSansLight-italic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OpenSansLight-regular.fntdata"/><Relationship Id="rId18" Type="http://schemas.openxmlformats.org/officeDocument/2006/relationships/font" Target="fonts/EncodeSansBlac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54098e009b_2_4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354098e009b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54098e009b_1_25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54098e009b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52eb8f9472_0_1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52eb8f947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3d80502f4_0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3d80502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480"/>
              </a:spcBef>
              <a:spcAft>
                <a:spcPts val="0"/>
              </a:spcAft>
              <a:buClr>
                <a:srgbClr val="4B2E83"/>
              </a:buClr>
              <a:buSzPts val="1600"/>
              <a:buFont typeface="Merriweather Sans"/>
              <a:buChar char="-"/>
            </a:pPr>
            <a:r>
              <a:rPr b="1" lang="en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ASV Framework: </a:t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60350" lvl="1" marL="742950" rtl="0" algn="l">
              <a:spcBef>
                <a:spcPts val="400"/>
              </a:spcBef>
              <a:spcAft>
                <a:spcPts val="0"/>
              </a:spcAft>
              <a:buClr>
                <a:srgbClr val="4B2E83"/>
              </a:buClr>
              <a:buSzPts val="1600"/>
              <a:buAutoNum type="alphaLcPeriod"/>
            </a:pPr>
            <a:r>
              <a:rPr b="1" lang="en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Sampling</a:t>
            </a:r>
            <a:r>
              <a:rPr b="1" lang="en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Extract baseline descriptors at several nearby scales around the detected scale. Used Feature interpolation to double sample size without generating additional computational cost.</a:t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60350" lvl="1" marL="742950" rtl="0" algn="l">
              <a:spcBef>
                <a:spcPts val="400"/>
              </a:spcBef>
              <a:spcAft>
                <a:spcPts val="0"/>
              </a:spcAft>
              <a:buClr>
                <a:srgbClr val="4B2E83"/>
              </a:buClr>
              <a:buSzPts val="1600"/>
              <a:buAutoNum type="alphaLcPeriod"/>
            </a:pPr>
            <a:r>
              <a:rPr b="1" lang="en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Stability Measurement</a:t>
            </a:r>
            <a:r>
              <a:rPr b="1" lang="en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Compute the absolute difference between pairs of descriptors at different scales.  (stability vector) measures how much each of the 128 descriptor elements change in terms of magnitude between two scale. </a:t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60350" lvl="1" marL="742950" rtl="0" algn="l">
              <a:spcBef>
                <a:spcPts val="400"/>
              </a:spcBef>
              <a:spcAft>
                <a:spcPts val="0"/>
              </a:spcAft>
              <a:buClr>
                <a:srgbClr val="4B2E83"/>
              </a:buClr>
              <a:buSzPts val="1600"/>
              <a:buAutoNum type="alphaLcPeriod"/>
            </a:pPr>
            <a:r>
              <a:rPr b="1" lang="en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Voting: </a:t>
            </a:r>
            <a:r>
              <a:rPr lang="en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Apply thresholding to classify each descriptor bin as </a:t>
            </a:r>
            <a:r>
              <a:rPr i="1" lang="en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stable </a:t>
            </a:r>
            <a:r>
              <a:rPr lang="en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or </a:t>
            </a:r>
            <a:r>
              <a:rPr i="1" lang="en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unstable</a:t>
            </a:r>
            <a:r>
              <a:rPr lang="en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60350" lvl="1" marL="742950" rtl="0" algn="l">
              <a:spcBef>
                <a:spcPts val="400"/>
              </a:spcBef>
              <a:spcAft>
                <a:spcPts val="0"/>
              </a:spcAft>
              <a:buClr>
                <a:srgbClr val="4B2E83"/>
              </a:buClr>
              <a:buSzPts val="1600"/>
              <a:buAutoNum type="alphaLcPeriod"/>
            </a:pPr>
            <a:r>
              <a:rPr b="1" lang="en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Accumulation: </a:t>
            </a:r>
            <a:r>
              <a:rPr lang="en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Sum stability votes across all scale pairs to produce a real-valued descriptor (ASV-SIFT). Each element in the descriptor counts how many times that feature dimension was stable across different scale pairs. High score -&gt; consistently stable. </a:t>
            </a:r>
            <a:endParaRPr sz="1600">
              <a:solidFill>
                <a:srgbClr val="4B2E8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60350" lvl="1" marL="742950" rtl="0" algn="l">
              <a:spcBef>
                <a:spcPts val="400"/>
              </a:spcBef>
              <a:spcAft>
                <a:spcPts val="0"/>
              </a:spcAft>
              <a:buClr>
                <a:srgbClr val="4B2E83"/>
              </a:buClr>
              <a:buSzPts val="1600"/>
              <a:buAutoNum type="alphaLcPeriod"/>
            </a:pPr>
            <a:r>
              <a:rPr b="1" lang="en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Quantization: </a:t>
            </a:r>
            <a:r>
              <a:rPr lang="en" sz="16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Apply an additional thresholding stage to generate a binary descriptor for efficient storage and matching.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4444c4d4e_0_52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4444c4d4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rPr>
              <a:t>Multiple thresholding: Define multiple thresholds within each scale pair and count the votes against each level. Sum all votes to generate the real value of each descriptor.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9327647f2_0_11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9327647f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4098e009b_1_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4098e009b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2eb8f9472_1_87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2eb8f9472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2eb8f9472_0_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2eb8f947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4098e009b_1_35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4098e009b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4bc7eeacd_1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4bc7eeac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5" y="1011357"/>
            <a:ext cx="1904993" cy="129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81" y="5157720"/>
            <a:ext cx="1200151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460375" y="1449112"/>
            <a:ext cx="6972300" cy="352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" type="body"/>
          </p:nvPr>
        </p:nvSpPr>
        <p:spPr>
          <a:xfrm>
            <a:off x="460375" y="1449112"/>
            <a:ext cx="6972300" cy="352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indent="-2286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indent="-228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indent="-228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1" y="5157720"/>
            <a:ext cx="1200151" cy="10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header + Content">
  <p:cSld name="Header + Subheader + Conten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idx="1" type="body"/>
          </p:nvPr>
        </p:nvSpPr>
        <p:spPr>
          <a:xfrm>
            <a:off x="447923" y="3093652"/>
            <a:ext cx="81972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4"/>
          <p:cNvSpPr txBox="1"/>
          <p:nvPr>
            <p:ph idx="2" type="body"/>
          </p:nvPr>
        </p:nvSpPr>
        <p:spPr>
          <a:xfrm>
            <a:off x="460375" y="2307556"/>
            <a:ext cx="81846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indent="-228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indent="-228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7" name="Google Shape;1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381" y="1819204"/>
            <a:ext cx="827843" cy="7227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type="title"/>
          </p:nvPr>
        </p:nvSpPr>
        <p:spPr>
          <a:xfrm>
            <a:off x="460375" y="493573"/>
            <a:ext cx="81846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idx="1" type="body"/>
          </p:nvPr>
        </p:nvSpPr>
        <p:spPr>
          <a:xfrm>
            <a:off x="447925" y="1490875"/>
            <a:ext cx="8197200" cy="51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type="title"/>
          </p:nvPr>
        </p:nvSpPr>
        <p:spPr>
          <a:xfrm>
            <a:off x="460375" y="492976"/>
            <a:ext cx="81846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>
            <p:ph idx="2" type="chart"/>
          </p:nvPr>
        </p:nvSpPr>
        <p:spPr>
          <a:xfrm>
            <a:off x="447923" y="2299969"/>
            <a:ext cx="8184600" cy="3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4" name="Google Shape;2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381" y="1819204"/>
            <a:ext cx="827843" cy="7227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6"/>
          <p:cNvSpPr txBox="1"/>
          <p:nvPr>
            <p:ph type="title"/>
          </p:nvPr>
        </p:nvSpPr>
        <p:spPr>
          <a:xfrm>
            <a:off x="460375" y="495347"/>
            <a:ext cx="81723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8" name="Google Shape;28;p7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9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D3A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30129" l="8136" r="13252" t="38360"/>
          <a:stretch/>
        </p:blipFill>
        <p:spPr>
          <a:xfrm>
            <a:off x="0" y="0"/>
            <a:ext cx="9144001" cy="32606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460375" y="1449100"/>
            <a:ext cx="8266800" cy="3267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Accumulated Stability Voting: A Robust Descriptor from Descriptors of Multiple Scales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235575" y="5064967"/>
            <a:ext cx="2856300" cy="1439700"/>
          </a:xfrm>
          <a:prstGeom prst="rect">
            <a:avLst/>
          </a:prstGeom>
          <a:solidFill>
            <a:srgbClr val="E8D3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0"/>
          <p:cNvSpPr txBox="1"/>
          <p:nvPr/>
        </p:nvSpPr>
        <p:spPr>
          <a:xfrm>
            <a:off x="382825" y="4716933"/>
            <a:ext cx="643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rPr>
              <a:t>Fred Xu, Matthew Kim, Minh Quan</a:t>
            </a:r>
            <a:endParaRPr sz="1600"/>
          </a:p>
        </p:txBody>
      </p:sp>
      <p:sp>
        <p:nvSpPr>
          <p:cNvPr id="46" name="Google Shape;46;p10"/>
          <p:cNvSpPr txBox="1"/>
          <p:nvPr/>
        </p:nvSpPr>
        <p:spPr>
          <a:xfrm>
            <a:off x="235575" y="5836024"/>
            <a:ext cx="763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Yang, T.-Y., Lin, Y.-Y. &amp; Chuang, Y.-Y., “Accumulated Stability Voting: A Robust Descriptor from Descriptors of Multiple Scales,” in Proc.</a:t>
            </a:r>
            <a:r>
              <a:rPr b="1" i="1" lang="en" sz="1000">
                <a:solidFill>
                  <a:schemeClr val="dk1"/>
                </a:solidFill>
              </a:rPr>
              <a:t> IEEE Conf. on Computer Vision and Pattern Recognition (CVPR)</a:t>
            </a:r>
            <a:r>
              <a:rPr b="1" lang="en" sz="1000">
                <a:solidFill>
                  <a:schemeClr val="dk1"/>
                </a:solidFill>
              </a:rPr>
              <a:t>, Las Vegas, NV, USA, Jun.–Jul. 2016, pp. 327-335. doi:10.1109/CVPR.2016.42.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460375" y="492976"/>
            <a:ext cx="8184600" cy="829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Agenda</a:t>
            </a:r>
            <a:endParaRPr b="1" sz="3020"/>
          </a:p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447925" y="1490875"/>
            <a:ext cx="8197200" cy="512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Introduction &amp; Problem Statement</a:t>
            </a:r>
            <a:endParaRPr/>
          </a:p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Methodology &amp; Design</a:t>
            </a:r>
            <a:endParaRPr/>
          </a:p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Results &amp; Analysis</a:t>
            </a:r>
            <a:endParaRPr/>
          </a:p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Conclusion</a:t>
            </a:r>
            <a:endParaRPr/>
          </a:p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Project Proposal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type="title"/>
          </p:nvPr>
        </p:nvSpPr>
        <p:spPr>
          <a:xfrm>
            <a:off x="460375" y="492976"/>
            <a:ext cx="8184600" cy="829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/>
              <a:t>Introduction &amp; Problem Statement</a:t>
            </a:r>
            <a:endParaRPr/>
          </a:p>
        </p:txBody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447925" y="1490875"/>
            <a:ext cx="8197200" cy="512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1800"/>
              <a:t>Problem</a:t>
            </a:r>
            <a:r>
              <a:rPr lang="en" sz="1800"/>
              <a:t>: </a:t>
            </a:r>
            <a:r>
              <a:rPr b="0" lang="en" sz="1800"/>
              <a:t>Most</a:t>
            </a:r>
            <a:r>
              <a:rPr b="0" lang="en" sz="1800"/>
              <a:t> traditional descriptors describe features at a single scale determined by the detector. </a:t>
            </a:r>
            <a:r>
              <a:rPr b="0" lang="en" sz="1800"/>
              <a:t>Incorrect scale selection can lead to unstable feature matching, possibly classifying noise to be features at a certain scale. </a:t>
            </a:r>
            <a:endParaRPr b="0" sz="1800"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1800"/>
              <a:t>Goal: </a:t>
            </a:r>
            <a:r>
              <a:rPr b="0" lang="en" sz="1800"/>
              <a:t>Develop a </a:t>
            </a:r>
            <a:r>
              <a:rPr b="0" lang="en" sz="1800"/>
              <a:t>descriptor</a:t>
            </a:r>
            <a:r>
              <a:rPr b="0" lang="en" sz="1800"/>
              <a:t> that integrates information from multiple scales to enhance robustness against scale variations.</a:t>
            </a:r>
            <a:endParaRPr b="0" sz="1800"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1800"/>
              <a:t>Contribution: </a:t>
            </a:r>
            <a:endParaRPr b="0" sz="1800"/>
          </a:p>
          <a:p>
            <a:pPr indent="-273050" lvl="1" marL="742950" rtl="0" algn="l">
              <a:spcBef>
                <a:spcPts val="400"/>
              </a:spcBef>
              <a:spcAft>
                <a:spcPts val="0"/>
              </a:spcAft>
              <a:buSzPts val="1800"/>
              <a:buChar char="○"/>
            </a:pPr>
            <a:r>
              <a:rPr b="0" lang="en" sz="1800"/>
              <a:t>Introduce the overall design of the ASV framework.</a:t>
            </a:r>
            <a:endParaRPr b="0" sz="1800"/>
          </a:p>
          <a:p>
            <a:pPr indent="-273050" lvl="1" marL="742950" rtl="0" algn="l">
              <a:spcBef>
                <a:spcPts val="400"/>
              </a:spcBef>
              <a:spcAft>
                <a:spcPts val="0"/>
              </a:spcAft>
              <a:buSzPts val="1800"/>
              <a:buChar char="○"/>
            </a:pPr>
            <a:r>
              <a:rPr b="0" lang="en" sz="1800"/>
              <a:t>Apply the </a:t>
            </a:r>
            <a:r>
              <a:rPr b="0" i="1" lang="en" sz="1800"/>
              <a:t>principle of maximum entropy </a:t>
            </a:r>
            <a:r>
              <a:rPr b="0" lang="en" sz="1800"/>
              <a:t>to determine optimal thresholds for stability quantization.</a:t>
            </a:r>
            <a:endParaRPr b="0" sz="1800"/>
          </a:p>
          <a:p>
            <a:pPr indent="-273050" lvl="1" marL="742950" rtl="0" algn="l">
              <a:spcBef>
                <a:spcPts val="400"/>
              </a:spcBef>
              <a:spcAft>
                <a:spcPts val="0"/>
              </a:spcAft>
              <a:buSzPts val="1800"/>
              <a:buChar char="○"/>
            </a:pPr>
            <a:r>
              <a:rPr b="0" lang="en" sz="1800"/>
              <a:t>Provide both real-valued and binary versions of ASV.</a:t>
            </a:r>
            <a:endParaRPr b="0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460375" y="492976"/>
            <a:ext cx="8184600" cy="829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ASV Design</a:t>
            </a:r>
            <a:endParaRPr b="1" sz="3020"/>
          </a:p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447925" y="1490875"/>
            <a:ext cx="8197200" cy="512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1800"/>
              <a:t>Key Idea: </a:t>
            </a:r>
            <a:r>
              <a:rPr b="0" lang="en" sz="1800"/>
              <a:t>Assess the stability of each descriptor dimension across scales and aggregate this information into a single descriptor.</a:t>
            </a:r>
            <a:endParaRPr b="0" sz="1800"/>
          </a:p>
        </p:txBody>
      </p:sp>
      <p:pic>
        <p:nvPicPr>
          <p:cNvPr id="65" name="Google Shape;6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321567"/>
            <a:ext cx="88392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460375" y="492976"/>
            <a:ext cx="8184600" cy="829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ASV Details: Voting Thresholds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47925" y="1490875"/>
            <a:ext cx="5125200" cy="497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1800"/>
              <a:t>Threshold: </a:t>
            </a:r>
            <a:r>
              <a:rPr b="0" lang="en" sz="1800">
                <a:solidFill>
                  <a:schemeClr val="dk1"/>
                </a:solidFill>
              </a:rPr>
              <a:t>Determine whether a descriptor element is stable or unstable</a:t>
            </a:r>
            <a:endParaRPr sz="18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1800"/>
              <a:t>Single threshold: </a:t>
            </a:r>
            <a:endParaRPr b="0" sz="1800"/>
          </a:p>
          <a:p>
            <a:pPr indent="-304800" lvl="0" marL="342900" rtl="0" algn="l">
              <a:spcBef>
                <a:spcPts val="480"/>
              </a:spcBef>
              <a:spcAft>
                <a:spcPts val="0"/>
              </a:spcAft>
              <a:buSzPts val="1800"/>
              <a:buChar char="●"/>
            </a:pPr>
            <a:r>
              <a:rPr b="0" lang="en" sz="1800"/>
              <a:t>Determine a threshold for each </a:t>
            </a:r>
            <a:r>
              <a:rPr b="0" lang="en" sz="1800"/>
              <a:t>scale pair</a:t>
            </a:r>
            <a:r>
              <a:rPr b="0" lang="en" sz="1800"/>
              <a:t> as the median of values </a:t>
            </a:r>
            <a:r>
              <a:rPr b="0" lang="en" sz="1800">
                <a:solidFill>
                  <a:schemeClr val="dk1"/>
                </a:solidFill>
              </a:rPr>
              <a:t>(</a:t>
            </a:r>
            <a:r>
              <a:rPr b="0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∈ </a:t>
            </a:r>
            <a:r>
              <a:rPr b="0" lang="en" sz="1800">
                <a:solidFill>
                  <a:schemeClr val="dk1"/>
                </a:solidFill>
              </a:rPr>
              <a:t>[1.. 128]) </a:t>
            </a:r>
            <a:r>
              <a:rPr b="0" lang="en" sz="1800"/>
              <a:t>in scale pair v</a:t>
            </a:r>
            <a:r>
              <a:rPr b="0" baseline="30000" lang="en" sz="1800"/>
              <a:t>m</a:t>
            </a:r>
            <a:r>
              <a:rPr b="0" lang="en" sz="1800"/>
              <a:t> </a:t>
            </a:r>
            <a:endParaRPr b="0" sz="1800"/>
          </a:p>
          <a:p>
            <a:pPr indent="-304800" lvl="0" marL="342900" rtl="0" algn="l">
              <a:spcBef>
                <a:spcPts val="480"/>
              </a:spcBef>
              <a:spcAft>
                <a:spcPts val="0"/>
              </a:spcAft>
              <a:buSzPts val="1800"/>
              <a:buChar char="●"/>
            </a:pPr>
            <a:r>
              <a:rPr b="0" lang="en" sz="1800"/>
              <a:t>The entropy is maximized when the number of 1s equals the number of 0s.</a:t>
            </a:r>
            <a:endParaRPr b="0" sz="18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1800"/>
              <a:t>Multiple thresholds (optional):</a:t>
            </a:r>
            <a:endParaRPr b="0" sz="1800"/>
          </a:p>
          <a:p>
            <a:pPr indent="-304800" lvl="0" marL="342900" rtl="0" algn="l">
              <a:spcBef>
                <a:spcPts val="480"/>
              </a:spcBef>
              <a:spcAft>
                <a:spcPts val="0"/>
              </a:spcAft>
              <a:buSzPts val="1800"/>
              <a:buChar char="●"/>
            </a:pPr>
            <a:r>
              <a:rPr b="0" lang="en" sz="1800"/>
              <a:t>Extend thresholding to multiple levels</a:t>
            </a:r>
            <a:endParaRPr b="0" sz="1800"/>
          </a:p>
          <a:p>
            <a:pPr indent="-273050" lvl="1" marL="742950" rtl="0" algn="l">
              <a:spcBef>
                <a:spcPts val="400"/>
              </a:spcBef>
              <a:spcAft>
                <a:spcPts val="0"/>
              </a:spcAft>
              <a:buSzPts val="1800"/>
              <a:buChar char="○"/>
            </a:pPr>
            <a:r>
              <a:rPr b="0" lang="en" sz="1800"/>
              <a:t>Very stable elements get lots of votes</a:t>
            </a:r>
            <a:endParaRPr b="0" sz="1800"/>
          </a:p>
          <a:p>
            <a:pPr indent="-304800" lvl="0" marL="342900" rtl="0" algn="l">
              <a:spcBef>
                <a:spcPts val="480"/>
              </a:spcBef>
              <a:spcAft>
                <a:spcPts val="0"/>
              </a:spcAft>
              <a:buSzPts val="1800"/>
              <a:buChar char="●"/>
            </a:pPr>
            <a:r>
              <a:rPr b="0" lang="en" sz="1800"/>
              <a:t>Thresholds are determined dynamically using the maximum </a:t>
            </a:r>
            <a:r>
              <a:rPr b="0" lang="en" sz="1800"/>
              <a:t>entropy principle</a:t>
            </a:r>
            <a:r>
              <a:rPr b="0" lang="en" sz="1800"/>
              <a:t>.</a:t>
            </a:r>
            <a:endParaRPr b="0" sz="1800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3">
            <a:alphaModFix/>
          </a:blip>
          <a:srcRect b="0" l="34305" r="30141" t="0"/>
          <a:stretch/>
        </p:blipFill>
        <p:spPr>
          <a:xfrm>
            <a:off x="5641975" y="2954150"/>
            <a:ext cx="3142675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Screenshot 2025-11-15 at 4.57.1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0775" y="2012088"/>
            <a:ext cx="2333875" cy="7984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/>
          <p:nvPr/>
        </p:nvSpPr>
        <p:spPr>
          <a:xfrm>
            <a:off x="5335550" y="5307600"/>
            <a:ext cx="3735300" cy="115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5" name="Google Shape;75;p14"/>
          <p:cNvGraphicFramePr/>
          <p:nvPr/>
        </p:nvGraphicFramePr>
        <p:xfrm>
          <a:off x="5490487" y="550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{90CEF2C2-52CE-448F-9A6E-94520D097432}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76" name="Google Shape;76;p14"/>
          <p:cNvSpPr txBox="1"/>
          <p:nvPr/>
        </p:nvSpPr>
        <p:spPr>
          <a:xfrm>
            <a:off x="5687787" y="5950950"/>
            <a:ext cx="28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Multiple thresholding example (n</a:t>
            </a:r>
            <a:r>
              <a:rPr baseline="-25000" lang="en" sz="1200"/>
              <a:t>t</a:t>
            </a:r>
            <a:r>
              <a:rPr lang="en" sz="1200"/>
              <a:t> = 2)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60375" y="492976"/>
            <a:ext cx="8184600" cy="829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ASV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447925" y="1490875"/>
            <a:ext cx="8197200" cy="512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1800"/>
              <a:t>Second stage thresholding:</a:t>
            </a:r>
            <a:endParaRPr sz="1800"/>
          </a:p>
          <a:p>
            <a:pPr indent="-3048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" sz="1800">
                <a:solidFill>
                  <a:schemeClr val="dk1"/>
                </a:solidFill>
              </a:rPr>
              <a:t>In scenarios where faster matching is needed, a binary version of the ASV descriptor can be generated using second stage thresholding on the votes: </a:t>
            </a:r>
            <a:endParaRPr b="0" sz="1800">
              <a:solidFill>
                <a:schemeClr val="dk1"/>
              </a:solidFill>
            </a:endParaRPr>
          </a:p>
          <a:p>
            <a:pPr indent="-2730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0" lang="en" sz="1800">
                <a:solidFill>
                  <a:schemeClr val="dk1"/>
                </a:solidFill>
              </a:rPr>
              <a:t>Choose a number of thresholds n</a:t>
            </a:r>
            <a:r>
              <a:rPr b="0" baseline="-25000" lang="en" sz="1800">
                <a:solidFill>
                  <a:schemeClr val="dk1"/>
                </a:solidFill>
              </a:rPr>
              <a:t>t</a:t>
            </a:r>
            <a:endParaRPr b="0" baseline="-25000" sz="1800">
              <a:solidFill>
                <a:schemeClr val="dk1"/>
              </a:solidFill>
            </a:endParaRPr>
          </a:p>
          <a:p>
            <a:pPr indent="-2730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0" lang="en" sz="1800">
                <a:solidFill>
                  <a:schemeClr val="dk1"/>
                </a:solidFill>
              </a:rPr>
              <a:t>Divide the range [0, max_votes] into n</a:t>
            </a:r>
            <a:r>
              <a:rPr b="0" baseline="-25000" lang="en" sz="1800">
                <a:solidFill>
                  <a:schemeClr val="dk1"/>
                </a:solidFill>
              </a:rPr>
              <a:t>t</a:t>
            </a:r>
            <a:r>
              <a:rPr b="0" lang="en" sz="1800">
                <a:solidFill>
                  <a:schemeClr val="dk1"/>
                </a:solidFill>
              </a:rPr>
              <a:t> + 1 equal intervals.</a:t>
            </a:r>
            <a:endParaRPr b="0" sz="1800">
              <a:solidFill>
                <a:schemeClr val="dk1"/>
              </a:solidFill>
            </a:endParaRPr>
          </a:p>
          <a:p>
            <a:pPr indent="-2730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0" lang="en" sz="1800">
                <a:solidFill>
                  <a:schemeClr val="dk1"/>
                </a:solidFill>
              </a:rPr>
              <a:t>Quantize accordingly.</a:t>
            </a:r>
            <a:endParaRPr b="0" sz="1800">
              <a:solidFill>
                <a:schemeClr val="dk1"/>
              </a:solidFill>
            </a:endParaRPr>
          </a:p>
          <a:p>
            <a:pPr indent="-3048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" sz="1800">
                <a:solidFill>
                  <a:schemeClr val="dk1"/>
                </a:solidFill>
              </a:rPr>
              <a:t>The resulting binary ASV-SIFT achieves a strong balance between speed, memory, and accuracy.</a:t>
            </a:r>
            <a:endParaRPr b="0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447925" y="1490875"/>
            <a:ext cx="3979800" cy="512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1800"/>
              <a:t>Evaluation</a:t>
            </a:r>
            <a:endParaRPr sz="1800"/>
          </a:p>
          <a:p>
            <a:pPr indent="-317500" lvl="0" marL="4572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Oxford Affine Covariant Regions</a:t>
            </a:r>
            <a:r>
              <a:rPr b="0" lang="en" sz="1400"/>
              <a:t> – viewpoint, scale, illumination changes</a:t>
            </a:r>
            <a:endParaRPr b="0"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Fischer dataset</a:t>
            </a:r>
            <a:r>
              <a:rPr b="0" lang="en" sz="1400"/>
              <a:t> – geometric/photometric variations</a:t>
            </a:r>
            <a:endParaRPr b="0"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SYM dataset</a:t>
            </a:r>
            <a:r>
              <a:rPr b="0" lang="en" sz="1400"/>
              <a:t> – controlled distortions (synthetic)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1800"/>
              <a:t>Metrics</a:t>
            </a:r>
            <a:endParaRPr sz="1800"/>
          </a:p>
          <a:p>
            <a:pPr indent="-317500" lvl="0" marL="4572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Mean Average Precision</a:t>
            </a:r>
            <a:r>
              <a:rPr b="0" lang="en" sz="1400"/>
              <a:t> (mAP)</a:t>
            </a:r>
            <a:endParaRPr b="0"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Precision–Recall</a:t>
            </a:r>
            <a:r>
              <a:rPr b="0" lang="en" sz="1400"/>
              <a:t> (PR) </a:t>
            </a:r>
            <a:endParaRPr b="0"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Descriptor size</a:t>
            </a:r>
            <a:r>
              <a:rPr b="0" lang="en" sz="1400"/>
              <a:t> (bits) – real vs binary variants</a:t>
            </a:r>
            <a:endParaRPr b="0"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Qualitative matching</a:t>
            </a:r>
            <a:r>
              <a:rPr b="0" lang="en" sz="1400"/>
              <a:t> </a:t>
            </a:r>
            <a:r>
              <a:rPr b="0" lang="en" sz="1400"/>
              <a:t>– match visualizations.</a:t>
            </a:r>
            <a:endParaRPr b="0" sz="1400"/>
          </a:p>
        </p:txBody>
      </p:sp>
      <p:graphicFrame>
        <p:nvGraphicFramePr>
          <p:cNvPr id="88" name="Google Shape;88;p16"/>
          <p:cNvGraphicFramePr/>
          <p:nvPr/>
        </p:nvGraphicFramePr>
        <p:xfrm>
          <a:off x="4571988" y="21876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{E9AF7432-D68F-4309-A257-49176E7763B0}</a:tableStyleId>
              </a:tblPr>
              <a:tblGrid>
                <a:gridCol w="1396200"/>
                <a:gridCol w="982350"/>
                <a:gridCol w="1003075"/>
                <a:gridCol w="1116050"/>
              </a:tblGrid>
              <a:tr h="435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66">
                          <a:solidFill>
                            <a:schemeClr val="dk1"/>
                          </a:solidFill>
                        </a:rPr>
                        <a:t>Method</a:t>
                      </a:r>
                      <a:endParaRPr b="1" sz="1166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66">
                          <a:solidFill>
                            <a:schemeClr val="dk1"/>
                          </a:solidFill>
                        </a:rPr>
                        <a:t>Oxford (mAP)</a:t>
                      </a:r>
                      <a:endParaRPr b="1" sz="1166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66">
                          <a:solidFill>
                            <a:schemeClr val="dk1"/>
                          </a:solidFill>
                        </a:rPr>
                        <a:t>Fischer (mAP)</a:t>
                      </a:r>
                      <a:endParaRPr b="1" sz="1166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66">
                          <a:solidFill>
                            <a:schemeClr val="dk1"/>
                          </a:solidFill>
                        </a:rPr>
                        <a:t>Gain vs SIFT</a:t>
                      </a:r>
                      <a:endParaRPr b="1" sz="1166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66">
                          <a:solidFill>
                            <a:schemeClr val="dk1"/>
                          </a:solidFill>
                        </a:rPr>
                        <a:t>SIFT (baseline)</a:t>
                      </a:r>
                      <a:endParaRPr sz="1166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66">
                          <a:solidFill>
                            <a:schemeClr val="dk1"/>
                          </a:solidFill>
                        </a:rPr>
                        <a:t>0.37</a:t>
                      </a:r>
                      <a:endParaRPr sz="1166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66">
                          <a:solidFill>
                            <a:schemeClr val="dk1"/>
                          </a:solidFill>
                        </a:rPr>
                        <a:t>0.62</a:t>
                      </a:r>
                      <a:endParaRPr sz="1166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66">
                          <a:solidFill>
                            <a:schemeClr val="dk1"/>
                          </a:solidFill>
                        </a:rPr>
                        <a:t>—</a:t>
                      </a:r>
                      <a:endParaRPr sz="1166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33">
                          <a:solidFill>
                            <a:schemeClr val="dk1"/>
                          </a:solidFill>
                        </a:rPr>
                        <a:t>ASV-SIFT (real)</a:t>
                      </a:r>
                      <a:endParaRPr b="1" sz="1033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33">
                          <a:solidFill>
                            <a:schemeClr val="dk1"/>
                          </a:solidFill>
                        </a:rPr>
                        <a:t>0.47</a:t>
                      </a:r>
                      <a:endParaRPr b="1" sz="1033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33">
                          <a:solidFill>
                            <a:schemeClr val="dk1"/>
                          </a:solidFill>
                        </a:rPr>
                        <a:t>0.66</a:t>
                      </a:r>
                      <a:endParaRPr b="1" sz="1033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+28%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/ +7%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33">
                          <a:solidFill>
                            <a:schemeClr val="dk1"/>
                          </a:solidFill>
                        </a:rPr>
                        <a:t>ASV-SIFT (binary)</a:t>
                      </a:r>
                      <a:endParaRPr b="1" sz="1033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33">
                          <a:solidFill>
                            <a:schemeClr val="dk1"/>
                          </a:solidFill>
                        </a:rPr>
                        <a:t>0.44</a:t>
                      </a:r>
                      <a:endParaRPr b="1" sz="1033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33">
                          <a:solidFill>
                            <a:schemeClr val="dk1"/>
                          </a:solidFill>
                        </a:rPr>
                        <a:t>0.65</a:t>
                      </a:r>
                      <a:endParaRPr b="1" sz="1033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+19% / +4%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" name="Google Shape;89;p16"/>
          <p:cNvSpPr txBox="1"/>
          <p:nvPr/>
        </p:nvSpPr>
        <p:spPr>
          <a:xfrm>
            <a:off x="4699425" y="6311650"/>
            <a:ext cx="433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/>
              <a:t>Source: Yang et al., “Accumulated Stability Voting: A Robust Descriptor from Descriptors of Multiple Scales,” CVPR 2016, Tables 1–3 (pp. 331–332).</a:t>
            </a:r>
            <a:endParaRPr i="1" sz="800"/>
          </a:p>
        </p:txBody>
      </p:sp>
      <p:sp>
        <p:nvSpPr>
          <p:cNvPr id="90" name="Google Shape;90;p16"/>
          <p:cNvSpPr txBox="1"/>
          <p:nvPr>
            <p:ph type="title"/>
          </p:nvPr>
        </p:nvSpPr>
        <p:spPr>
          <a:xfrm>
            <a:off x="460375" y="492976"/>
            <a:ext cx="8184600" cy="829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Evaluation &amp; </a:t>
            </a:r>
            <a:r>
              <a:rPr b="1" lang="en" sz="3020"/>
              <a:t>Analysis</a:t>
            </a:r>
            <a:endParaRPr b="1" sz="3020"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1379" y="4241000"/>
            <a:ext cx="4508298" cy="196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460375" y="492976"/>
            <a:ext cx="8184600" cy="829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Evaluation &amp; </a:t>
            </a:r>
            <a:r>
              <a:rPr b="1" lang="en" sz="3020"/>
              <a:t>Analysis</a:t>
            </a:r>
            <a:endParaRPr b="1" sz="3020"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47925" y="1490875"/>
            <a:ext cx="8197200" cy="512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Strengths</a:t>
            </a:r>
            <a:endParaRPr sz="18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0" lang="en" sz="1600">
                <a:solidFill>
                  <a:schemeClr val="dk1"/>
                </a:solidFill>
              </a:rPr>
              <a:t>Multi-scale stability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b="0" lang="en" sz="1600">
                <a:solidFill>
                  <a:schemeClr val="dk1"/>
                </a:solidFill>
              </a:rPr>
              <a:t>aggregation improves </a:t>
            </a:r>
            <a:r>
              <a:rPr lang="en" sz="1600">
                <a:solidFill>
                  <a:schemeClr val="dk1"/>
                </a:solidFill>
              </a:rPr>
              <a:t>descriptor robustness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0" lang="en" sz="1600">
                <a:solidFill>
                  <a:schemeClr val="dk1"/>
                </a:solidFill>
              </a:rPr>
              <a:t>Real ASV-SIFT achieves </a:t>
            </a:r>
            <a:r>
              <a:rPr lang="en" sz="1600">
                <a:solidFill>
                  <a:schemeClr val="dk1"/>
                </a:solidFill>
              </a:rPr>
              <a:t>highest mAP</a:t>
            </a:r>
            <a:r>
              <a:rPr b="0" lang="en" sz="1600">
                <a:solidFill>
                  <a:schemeClr val="dk1"/>
                </a:solidFill>
              </a:rPr>
              <a:t> among all handcrafted descriptors</a:t>
            </a:r>
            <a:endParaRPr b="0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0" lang="en" sz="1600">
                <a:solidFill>
                  <a:schemeClr val="dk1"/>
                </a:solidFill>
              </a:rPr>
              <a:t>Binary ASV-SIFT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b="0" lang="en" sz="1600">
                <a:solidFill>
                  <a:schemeClr val="dk1"/>
                </a:solidFill>
              </a:rPr>
              <a:t>→ </a:t>
            </a:r>
            <a:r>
              <a:rPr lang="en" sz="1600">
                <a:solidFill>
                  <a:schemeClr val="dk1"/>
                </a:solidFill>
              </a:rPr>
              <a:t>compact but high-performing alternative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0" lang="en" sz="1600">
                <a:solidFill>
                  <a:schemeClr val="dk1"/>
                </a:solidFill>
              </a:rPr>
              <a:t>PR curves show</a:t>
            </a:r>
            <a:r>
              <a:rPr lang="en" sz="1600">
                <a:solidFill>
                  <a:schemeClr val="dk1"/>
                </a:solidFill>
              </a:rPr>
              <a:t> consistent improvements </a:t>
            </a:r>
            <a:r>
              <a:rPr b="0" lang="en" sz="1600">
                <a:solidFill>
                  <a:schemeClr val="dk1"/>
                </a:solidFill>
              </a:rPr>
              <a:t>across datasets</a:t>
            </a:r>
            <a:endParaRPr b="0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Analysis</a:t>
            </a:r>
            <a:endParaRPr sz="18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0" lang="en" sz="1600">
                <a:solidFill>
                  <a:schemeClr val="dk1"/>
                </a:solidFill>
              </a:rPr>
              <a:t>Largest gains occur under </a:t>
            </a:r>
            <a:r>
              <a:rPr lang="en" sz="1600">
                <a:solidFill>
                  <a:schemeClr val="dk1"/>
                </a:solidFill>
              </a:rPr>
              <a:t>strong scale and illumination variation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0" lang="en" sz="1600">
                <a:solidFill>
                  <a:schemeClr val="dk1"/>
                </a:solidFill>
              </a:rPr>
              <a:t>ASV </a:t>
            </a:r>
            <a:r>
              <a:rPr lang="en" sz="1600">
                <a:solidFill>
                  <a:schemeClr val="dk1"/>
                </a:solidFill>
              </a:rPr>
              <a:t>smooths out descriptor instability</a:t>
            </a:r>
            <a:r>
              <a:rPr b="0" lang="en" sz="1600">
                <a:solidFill>
                  <a:schemeClr val="dk1"/>
                </a:solidFill>
              </a:rPr>
              <a:t> by integrating cross-scale votes</a:t>
            </a:r>
            <a:endParaRPr b="0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0" lang="en" sz="1600">
                <a:solidFill>
                  <a:schemeClr val="dk1"/>
                </a:solidFill>
              </a:rPr>
              <a:t>Improvement is not dataset-specific → </a:t>
            </a:r>
            <a:r>
              <a:rPr lang="en" sz="1600">
                <a:solidFill>
                  <a:schemeClr val="dk1"/>
                </a:solidFill>
              </a:rPr>
              <a:t>indicates broad robustness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Limitations / Gaps </a:t>
            </a:r>
            <a:endParaRPr sz="18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0" lang="en" sz="1600">
                <a:solidFill>
                  <a:schemeClr val="dk1"/>
                </a:solidFill>
              </a:rPr>
              <a:t>Uses global maximum-entropy threshold, </a:t>
            </a:r>
            <a:r>
              <a:rPr lang="en" sz="1600">
                <a:solidFill>
                  <a:schemeClr val="dk1"/>
                </a:solidFill>
              </a:rPr>
              <a:t>not adaptiv</a:t>
            </a:r>
            <a:r>
              <a:rPr lang="en" sz="1600">
                <a:solidFill>
                  <a:schemeClr val="dk1"/>
                </a:solidFill>
              </a:rPr>
              <a:t>e</a:t>
            </a:r>
            <a:endParaRPr b="0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chemeClr val="dk1"/>
                </a:solidFill>
              </a:rPr>
              <a:t>No GPU/runtime </a:t>
            </a:r>
            <a:r>
              <a:rPr b="0" lang="en" sz="1600">
                <a:solidFill>
                  <a:schemeClr val="dk1"/>
                </a:solidFill>
              </a:rPr>
              <a:t>breakdown beyond “moderate overhead”</a:t>
            </a:r>
            <a:endParaRPr b="0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0" lang="en" sz="1600">
                <a:solidFill>
                  <a:schemeClr val="dk1"/>
                </a:solidFill>
              </a:rPr>
              <a:t>Evaluated on </a:t>
            </a:r>
            <a:r>
              <a:rPr lang="en" sz="1600">
                <a:solidFill>
                  <a:schemeClr val="dk1"/>
                </a:solidFill>
              </a:rPr>
              <a:t>classical datasets,</a:t>
            </a:r>
            <a:r>
              <a:rPr b="0" lang="en" sz="1600">
                <a:solidFill>
                  <a:schemeClr val="dk1"/>
                </a:solidFill>
              </a:rPr>
              <a:t> not modern large-scale sets</a:t>
            </a:r>
            <a:endParaRPr b="0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460375" y="492976"/>
            <a:ext cx="8184600" cy="829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Conclusion </a:t>
            </a:r>
            <a:endParaRPr b="1"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47925" y="1490875"/>
            <a:ext cx="8197200" cy="512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1800"/>
              <a:t>New feature descriptor</a:t>
            </a:r>
            <a:endParaRPr sz="1800"/>
          </a:p>
          <a:p>
            <a:pPr indent="-342900" lvl="0" marL="457200" rtl="0" algn="l">
              <a:spcBef>
                <a:spcPts val="480"/>
              </a:spcBef>
              <a:spcAft>
                <a:spcPts val="0"/>
              </a:spcAft>
              <a:buSzPts val="1800"/>
              <a:buChar char="●"/>
            </a:pPr>
            <a:r>
              <a:rPr b="0" lang="en" sz="1800"/>
              <a:t>ASV calculates the </a:t>
            </a:r>
            <a:r>
              <a:rPr b="0" lang="en" sz="1800"/>
              <a:t>stability</a:t>
            </a:r>
            <a:r>
              <a:rPr b="0" lang="en" sz="1800"/>
              <a:t> of a feature across multiple scales to generate a feature descriptor</a:t>
            </a:r>
            <a:endParaRPr b="0" sz="1800"/>
          </a:p>
          <a:p>
            <a:pPr indent="0" lvl="0" marL="9144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0" sz="18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Improved feature descriptor</a:t>
            </a:r>
            <a:endParaRPr b="0" sz="1800"/>
          </a:p>
          <a:p>
            <a:pPr indent="-342900" lvl="0" marL="457200" rtl="0" algn="l">
              <a:spcBef>
                <a:spcPts val="480"/>
              </a:spcBef>
              <a:spcAft>
                <a:spcPts val="0"/>
              </a:spcAft>
              <a:buSzPts val="1800"/>
              <a:buChar char="●"/>
            </a:pPr>
            <a:r>
              <a:rPr b="0" lang="en" sz="1800"/>
              <a:t>Real-valued ASV achieves the best matching accuracy</a:t>
            </a:r>
            <a:endParaRPr b="0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 sz="1800"/>
              <a:t>Binary ASV-SIFT offers good matching performance with low storage costs.</a:t>
            </a:r>
            <a:endParaRPr b="0" sz="18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0" sz="18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1800"/>
              <a:t>Lightweight feature descriptor</a:t>
            </a:r>
            <a:endParaRPr sz="1800"/>
          </a:p>
          <a:p>
            <a:pPr indent="-342900" lvl="0" marL="457200" rtl="0" algn="l">
              <a:spcBef>
                <a:spcPts val="480"/>
              </a:spcBef>
              <a:spcAft>
                <a:spcPts val="0"/>
              </a:spcAft>
              <a:buSzPts val="1800"/>
              <a:buChar char="●"/>
            </a:pPr>
            <a:r>
              <a:rPr b="0" lang="en" sz="1800"/>
              <a:t>The framework is training-free, simple to implement, and highly effective in diverse co</a:t>
            </a:r>
            <a:r>
              <a:rPr b="0" lang="en" sz="1800"/>
              <a:t>nditions.</a:t>
            </a:r>
            <a:endParaRPr b="0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460375" y="492976"/>
            <a:ext cx="8184600" cy="829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Group Project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447925" y="1490875"/>
            <a:ext cx="8197200" cy="512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Replication</a:t>
            </a:r>
            <a:endParaRPr sz="18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0" lang="en" sz="1600"/>
              <a:t>Implement ASV in OpenCV</a:t>
            </a:r>
            <a:endParaRPr b="0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0" lang="en" sz="1600"/>
              <a:t>Compatible with </a:t>
            </a:r>
            <a:r>
              <a:rPr b="0" lang="en" sz="1600"/>
              <a:t>multiple</a:t>
            </a:r>
            <a:r>
              <a:rPr b="0" lang="en" sz="1600"/>
              <a:t> feature detectors</a:t>
            </a:r>
            <a:endParaRPr b="0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Evaluation</a:t>
            </a:r>
            <a:endParaRPr sz="18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Mean average precision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Runtime performance:</a:t>
            </a:r>
            <a:r>
              <a:rPr b="0" lang="en" sz="1600"/>
              <a:t> vs SIFT and BRISK</a:t>
            </a:r>
            <a:endParaRPr b="0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Robustness: </a:t>
            </a:r>
            <a:r>
              <a:rPr b="0" lang="en" sz="1600"/>
              <a:t>performance against blur, noise, brightness</a:t>
            </a:r>
            <a:endParaRPr b="0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Improvement</a:t>
            </a:r>
            <a:endParaRPr sz="1800"/>
          </a:p>
          <a:p>
            <a:pPr indent="-292100" lvl="0" marL="3429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0" lang="en" sz="1600"/>
              <a:t>Study thresholding strategies: adaptive/weighted voting</a:t>
            </a:r>
            <a:endParaRPr b="0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479700" y="3014401"/>
            <a:ext cx="8184600" cy="829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Q &amp; A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Custom Desig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