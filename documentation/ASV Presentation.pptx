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embeddedFontLst>
    <p:embeddedFont>
      <p:font typeface="Encode Sans Black"/>
      <p:bold r:id="rId13"/>
    </p:embeddedFont>
    <p:embeddedFont>
      <p:font typeface="Encode Sans Medium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330B6C-655C-4F55-9955-66B564205C7C}">
  <a:tblStyle styleId="{64330B6C-655C-4F55-9955-66B564205C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EncodeSansBlack-bold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EncodeSansMedium-bold.fntdata"/><Relationship Id="rId14" Type="http://schemas.openxmlformats.org/officeDocument/2006/relationships/font" Target="fonts/EncodeSansMedium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54098e009b_2_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354098e009b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44d33f64a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a44d33f6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5cbc7fda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a5cbc7fd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44d33f64a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a44d33f64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654bae5f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654bae5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 generally descriptor size is bigger (drastically more in the ASV-real with 128 * 3 threshold and float32 type) =&gt; 1500 bytes and 128 * 3 = 384 for ASV-binary. The extraction time is visibly increased by around 50x while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55334d89_1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55334d8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 Title Only">
  <p:cSld name="Title Only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5" y="1011357"/>
            <a:ext cx="1904993" cy="12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5029200"/>
            <a:ext cx="1200151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3200400"/>
            <a:ext cx="73152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B Title + Subtitle">
  <p:cSld name="2_Title Slid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6072" y="3017520"/>
            <a:ext cx="1188723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60375" y="3200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ncode Sans Medium"/>
              <a:buNone/>
              <a:defRPr sz="1600">
                <a:solidFill>
                  <a:schemeClr val="dk2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60375" y="11430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sz="50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subTitle"/>
          </p:nvPr>
        </p:nvSpPr>
        <p:spPr>
          <a:xfrm>
            <a:off x="460375" y="411480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A Content: Title and content">
  <p:cSld name="1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B Content: Title and 2 content">
  <p:cSld name="1_Custom Layou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457200" y="1143000"/>
            <a:ext cx="4115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46037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572000" y="1143000"/>
            <a:ext cx="4115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Content: Title and 2 content Horizontal">
  <p:cSld name="1_Custom Layout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457200" y="1143000"/>
            <a:ext cx="823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460375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57200" y="3657600"/>
            <a:ext cx="823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End">
  <p:cSld name="3_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3A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30129" l="8136" r="13252" t="38360"/>
          <a:stretch/>
        </p:blipFill>
        <p:spPr>
          <a:xfrm>
            <a:off x="0" y="0"/>
            <a:ext cx="9144001" cy="32606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235575" y="5064967"/>
            <a:ext cx="2856300" cy="1439700"/>
          </a:xfrm>
          <a:prstGeom prst="rect">
            <a:avLst/>
          </a:prstGeom>
          <a:solidFill>
            <a:srgbClr val="E8D3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460375" y="3200400"/>
            <a:ext cx="82296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Fred Xu, Matthew Kim, Minh Quan</a:t>
            </a:r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460375" y="1143000"/>
            <a:ext cx="82296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Accumulated Stability Voting (ASV) Project</a:t>
            </a:r>
            <a:endParaRPr/>
          </a:p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460375" y="4114800"/>
            <a:ext cx="6858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Yang, T.-Y., Lin, Y.-Y. &amp; Chuang, Y.-Y., “Accumulated Stability Voting: A Robust Descriptor from Descriptors of Multiple Scales,” in Proc. IEEE Conf. on Computer Vision and Pattern Recognition (CVPR), Las Vegas, NV, USA, Jun.–Jul. 2016, pp. 327-335. doi:10.1109/CVPR.2016.42.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Goals: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Implement the ASV framework in C++ for future integration with OpenCV.</a:t>
            </a:r>
            <a:endParaRPr b="0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0" lang="en" sz="2200"/>
              <a:t>Evaluate ASV on the Oxford dataset.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0" lang="en" sz="2200"/>
              <a:t>Compare w/ SIFT, BRISK, &amp; ORB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0" lang="en" sz="2200"/>
              <a:t>Feature extraction performance</a:t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C++ Implementation: </a:t>
            </a:r>
            <a:endParaRPr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0" lang="en" sz="2200">
                <a:solidFill>
                  <a:schemeClr val="dk1"/>
                </a:solidFill>
              </a:rPr>
              <a:t>Multiscale feature extraction</a:t>
            </a:r>
            <a:endParaRPr b="0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0" lang="en" sz="2200">
                <a:solidFill>
                  <a:schemeClr val="dk1"/>
                </a:solidFill>
              </a:rPr>
              <a:t>Multiple 1st stage thresholding</a:t>
            </a:r>
            <a:endParaRPr b="0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0" lang="en" sz="2200">
                <a:solidFill>
                  <a:schemeClr val="dk1"/>
                </a:solidFill>
              </a:rPr>
              <a:t>Multiple 2nd stage thresholding</a:t>
            </a:r>
            <a:endParaRPr b="0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0" lang="en" sz="2200">
                <a:solidFill>
                  <a:schemeClr val="dk1"/>
                </a:solidFill>
              </a:rPr>
              <a:t>Generate real-valued and binary ASV descriptor</a:t>
            </a:r>
            <a:endParaRPr b="0" sz="2200"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454225" y="457200"/>
            <a:ext cx="82296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422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Matching</a:t>
            </a:r>
            <a:endParaRPr/>
          </a:p>
        </p:txBody>
      </p:sp>
      <p:sp>
        <p:nvSpPr>
          <p:cNvPr id="48" name="Google Shape;48;p10"/>
          <p:cNvSpPr txBox="1"/>
          <p:nvPr/>
        </p:nvSpPr>
        <p:spPr>
          <a:xfrm>
            <a:off x="7762875" y="2348800"/>
            <a:ext cx="11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SIFT</a:t>
            </a: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7762875" y="5019075"/>
            <a:ext cx="11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ASV-SIFT</a:t>
            </a:r>
            <a:endParaRPr/>
          </a:p>
        </p:txBody>
      </p:sp>
      <p:pic>
        <p:nvPicPr>
          <p:cNvPr id="50" name="Google Shape;50;p10" title="output_SIF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0"/>
            <a:ext cx="7458079" cy="248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 title="output_ASV_Rea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163640"/>
            <a:ext cx="7458079" cy="248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143000"/>
            <a:ext cx="4115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0" lang="en" sz="1800"/>
              <a:t>Oxford Dataset</a:t>
            </a:r>
            <a:endParaRPr b="0"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b="0" lang="en" sz="1600"/>
              <a:t>Binary Descriptors: </a:t>
            </a:r>
            <a:endParaRPr b="0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 sz="1600"/>
              <a:t>ASV-REAL &gt; SIFT</a:t>
            </a:r>
            <a:endParaRPr b="0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 sz="1600"/>
              <a:t>Real-value Descriptors:</a:t>
            </a:r>
            <a:endParaRPr b="0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0" lang="en" sz="1600"/>
              <a:t>ASV-BINARY &gt; BRISK &gt; ORB</a:t>
            </a:r>
            <a:endParaRPr b="0" sz="16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100"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460375" y="457200"/>
            <a:ext cx="82296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Performance</a:t>
            </a:r>
            <a:endParaRPr/>
          </a:p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4572000" y="1143000"/>
            <a:ext cx="4115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Precision-Recall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0" lang="en" sz="1600">
                <a:solidFill>
                  <a:schemeClr val="dk1"/>
                </a:solidFill>
              </a:rPr>
              <a:t>PR curve for Boat 1|6 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chemeClr val="dk1"/>
                </a:solidFill>
              </a:rPr>
              <a:t>(highest level of rotation/scale changes)</a:t>
            </a:r>
            <a:endParaRPr b="0" i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9" name="Google Shape;59;p11"/>
          <p:cNvGraphicFramePr/>
          <p:nvPr/>
        </p:nvGraphicFramePr>
        <p:xfrm>
          <a:off x="661300" y="20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{64330B6C-655C-4F55-9955-66B564205C7C}</a:tableStyleId>
              </a:tblPr>
              <a:tblGrid>
                <a:gridCol w="1414850"/>
                <a:gridCol w="2081800"/>
              </a:tblGrid>
              <a:tr h="41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mAP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chemeClr val="accent3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SIFT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0.3391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ASV-REAL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0.3883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BRISK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0.1588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ORB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0.1851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ASV-BINARY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0.3034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pic>
        <p:nvPicPr>
          <p:cNvPr id="60" name="Google Shape;60;p11" title="Screenshot 2025-12-07 at 11.33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263" y="1697408"/>
            <a:ext cx="3235775" cy="30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457200" y="1143000"/>
            <a:ext cx="4115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Descriptor Size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22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460375" y="457200"/>
            <a:ext cx="82296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Performance</a:t>
            </a:r>
            <a:endParaRPr/>
          </a:p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572000" y="1143000"/>
            <a:ext cx="4115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Feature Extraction Time</a:t>
            </a:r>
            <a:endParaRPr/>
          </a:p>
        </p:txBody>
      </p:sp>
      <p:graphicFrame>
        <p:nvGraphicFramePr>
          <p:cNvPr id="68" name="Google Shape;68;p12"/>
          <p:cNvGraphicFramePr/>
          <p:nvPr/>
        </p:nvGraphicFramePr>
        <p:xfrm>
          <a:off x="890913" y="20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{64330B6C-655C-4F55-9955-66B564205C7C}</a:tableStyleId>
              </a:tblPr>
              <a:tblGrid>
                <a:gridCol w="1328725"/>
                <a:gridCol w="929650"/>
                <a:gridCol w="989600"/>
              </a:tblGrid>
              <a:tr h="41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size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SIFT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float32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ASV-REAL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 x nt1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float32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BRISK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ORB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ASV-BINARY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 x nt2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2"/>
          <p:cNvSpPr txBox="1"/>
          <p:nvPr/>
        </p:nvSpPr>
        <p:spPr>
          <a:xfrm>
            <a:off x="890925" y="4487300"/>
            <a:ext cx="3248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*</a:t>
            </a:r>
            <a:r>
              <a:rPr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t = nThreshold1 | 2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70" name="Google Shape;70;p12"/>
          <p:cNvGraphicFramePr/>
          <p:nvPr/>
        </p:nvGraphicFramePr>
        <p:xfrm>
          <a:off x="5052913" y="20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{64330B6C-655C-4F55-9955-66B564205C7C}</a:tableStyleId>
              </a:tblPr>
              <a:tblGrid>
                <a:gridCol w="1276025"/>
                <a:gridCol w="1877550"/>
              </a:tblGrid>
              <a:tr h="41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Time (ms)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SIFT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ASV-REAL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12,334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BRISK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ORB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ASV-BINARY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11,396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C++ Implementation</a:t>
            </a:r>
            <a:endParaRPr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Default ASV-SIFT</a:t>
            </a:r>
            <a:endParaRPr b="0"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Future optimization related to vector/Mat usage</a:t>
            </a:r>
            <a:endParaRPr b="0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Matches author’s work</a:t>
            </a:r>
            <a:endParaRPr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ASV-SIFT is an improvement over SIFT</a:t>
            </a:r>
            <a:endParaRPr b="0"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requires more computation and resources</a:t>
            </a:r>
            <a:endParaRPr b="0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Future Work</a:t>
            </a:r>
            <a:endParaRPr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Complete integration with OpenCV library</a:t>
            </a:r>
            <a:endParaRPr b="0"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Further optimization</a:t>
            </a:r>
            <a:endParaRPr b="0"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b="0" lang="en" sz="2200">
                <a:solidFill>
                  <a:schemeClr val="dk1"/>
                </a:solidFill>
              </a:rPr>
              <a:t>Multi-scaling implementation in other feature descriptors</a:t>
            </a:r>
            <a:endParaRPr b="0" sz="2200">
              <a:solidFill>
                <a:schemeClr val="dk1"/>
              </a:solidFill>
            </a:endParaRPr>
          </a:p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454225" y="457200"/>
            <a:ext cx="82296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i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